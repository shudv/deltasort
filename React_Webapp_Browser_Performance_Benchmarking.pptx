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surprise. Senior engineers expect nuance, but not this punchline. Frame the talk around avoiding confident mistakes in browser performance work. Tease that every claim today comes from profiles and production incidents, not folklore.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hidden costs: dependency tracking, extra memory churn, stale cache invalidation, and referential equality gymnastics. Mention that low-cost calculations become slower when wrapped with caching ceremony.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simplistic big-O thinking in UI code. In browsers, one avoidable reflow can dominate dozens of JavaScript operations. A correct model includes scheduler behavior, main-thread contention, and render pipeline phases.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bash Svelte itself. The point is broader: performance claims without reproducible profiles are weak evidence. Ask audience to demand traces, test conditions, and user-centric metrics before accepting speed narratives.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benchmarks are essential for sanity checks and regression detection. But blindly optimizing to synthetic baselines can overfit away from real user paths. Use baselines as map, not mandate.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explicit hypotheses tied to measurable components: script, style, layout, paint, compositing, and network waits. Different pages and devices shift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a strict team norm: optimization PRs should include before and after traces. Call out where time moved, not just total time. Profiles often show the opposite of first intuition.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engineering metrics to user perception: interaction latency, jank, and visual stability. A small metric win can be invisible; a tiny visual hitch can destroy confidence.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Symptom: users reported input lag in a grid with hover tooltips. Misleading first hypothesis blamed React reconciliation due to many cells. Profile showed repeated read-after-write layout invalidation in a hook measuring tooltip bounds on every keypress. Fix: batch reads and writes in requestAnimationFrame and decouple tooltip updates from typing path.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Symptom: smooth scroll degraded badly only after filtering results. First hypothesis targeted the virtualization library internals. Root cause: key generation used index plus transient filter state, causing frequent remounts and cache invalidation. Fix: stable entity IDs as keys and memo boundaries around row renderers.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restating the practical discipline: build accurate cost models, let profiles arbitrate, and optimize what users perceive. Invite the team to standardize perf postmortems around these three checkpoints.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82880"/>
            <a:ext cx="11795760" cy="6492240"/>
          </a:xfrm>
          <a:prstGeom prst="roundRect">
            <a:avLst/>
          </a:prstGeom>
          <a:solidFill>
            <a:srgbClr val="0F1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309360"/>
            <a:ext cx="201168" cy="27432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6053328"/>
            <a:ext cx="201168" cy="53035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0704" y="5614416"/>
            <a:ext cx="201168" cy="9692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16736" y="6263640"/>
            <a:ext cx="201168" cy="32004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72768" y="5230368"/>
            <a:ext cx="201168" cy="13533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797296"/>
            <a:ext cx="201168" cy="78638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84832" y="6172200"/>
            <a:ext cx="201168" cy="41148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40864" y="4864608"/>
            <a:ext cx="201168" cy="171907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6896" y="5888736"/>
            <a:ext cx="201168" cy="69494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5486400"/>
            <a:ext cx="201168" cy="109728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6144768"/>
            <a:ext cx="201168" cy="4389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5568697"/>
            <a:ext cx="201168" cy="1014983"/>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21024" y="6126480"/>
            <a:ext cx="201168" cy="45720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77056" y="5138928"/>
            <a:ext cx="201168" cy="144475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33088" y="5843016"/>
            <a:ext cx="201168" cy="7406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5577840"/>
            <a:ext cx="201168" cy="100584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48640"/>
            <a:ext cx="10789920" cy="1645920"/>
          </a:xfrm>
          <a:prstGeom prst="rect">
            <a:avLst/>
          </a:prstGeom>
          <a:noFill/>
        </p:spPr>
        <p:txBody>
          <a:bodyPr wrap="none">
            <a:spAutoFit/>
          </a:bodyPr>
          <a:lstStyle/>
          <a:p>
            <a:pPr algn="l"/>
            <a:r>
              <a:rPr sz="5200" b="1">
                <a:solidFill>
                  <a:srgbClr val="F0F4FF"/>
                </a:solidFill>
                <a:latin typeface="Avenir Next"/>
              </a:rPr>
              <a:t>Your fastest React optimization probably made it slower.</a:t>
            </a:r>
          </a:p>
        </p:txBody>
      </p:sp>
      <p:sp>
        <p:nvSpPr>
          <p:cNvPr id="21" name="TextBox 20"/>
          <p:cNvSpPr txBox="1"/>
          <p:nvPr/>
        </p:nvSpPr>
        <p:spPr>
          <a:xfrm>
            <a:off x="822960" y="2057400"/>
            <a:ext cx="10515600" cy="2194560"/>
          </a:xfrm>
          <a:prstGeom prst="rect">
            <a:avLst/>
          </a:prstGeom>
          <a:noFill/>
        </p:spPr>
        <p:txBody>
          <a:bodyPr wrap="none">
            <a:spAutoFit/>
          </a:bodyPr>
          <a:lstStyle/>
          <a:p>
            <a:pPr algn="l"/>
            <a:r>
              <a:rPr sz="3000" b="1">
                <a:solidFill>
                  <a:srgbClr val="FF7D3D"/>
                </a:solidFill>
                <a:latin typeface="Avenir Next"/>
              </a:rPr>
              <a:t>Memoization can be a tax, not a discount.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82880"/>
            <a:ext cx="11795760" cy="6492240"/>
          </a:xfrm>
          <a:prstGeom prst="roundRect">
            <a:avLst/>
          </a:prstGeom>
          <a:solidFill>
            <a:srgbClr val="0F1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236208"/>
            <a:ext cx="201168" cy="34747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5980176"/>
            <a:ext cx="201168" cy="60350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0704" y="5760720"/>
            <a:ext cx="201168" cy="82296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16736" y="6190488"/>
            <a:ext cx="201168" cy="39319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72768" y="5157217"/>
            <a:ext cx="201168" cy="1426463"/>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943600"/>
            <a:ext cx="201168" cy="64008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84832" y="6099048"/>
            <a:ext cx="201168" cy="48463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40864" y="4791456"/>
            <a:ext cx="201168" cy="179222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6896" y="6035040"/>
            <a:ext cx="201168" cy="54864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5413248"/>
            <a:ext cx="201168" cy="117043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6071616"/>
            <a:ext cx="201168" cy="5120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5715000"/>
            <a:ext cx="201168" cy="86868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21024" y="6053328"/>
            <a:ext cx="201168" cy="53035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77056" y="5065776"/>
            <a:ext cx="201168" cy="151790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33088" y="5989320"/>
            <a:ext cx="201168" cy="59436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5504688"/>
            <a:ext cx="201168" cy="107899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 y="182880"/>
            <a:ext cx="3383280" cy="502920"/>
          </a:xfrm>
          <a:prstGeom prst="roundRect">
            <a:avLst/>
          </a:prstGeom>
          <a:solidFill>
            <a:srgbClr val="1A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E2CC"/>
                </a:solidFill>
                <a:latin typeface="Avenir Next"/>
              </a:rPr>
              <a:t>PART 1 - Performance is Tricky</a:t>
            </a:r>
          </a:p>
        </p:txBody>
      </p:sp>
      <p:sp>
        <p:nvSpPr>
          <p:cNvPr id="21" name="TextBox 20"/>
          <p:cNvSpPr txBox="1"/>
          <p:nvPr/>
        </p:nvSpPr>
        <p:spPr>
          <a:xfrm>
            <a:off x="777240" y="914400"/>
            <a:ext cx="10789920" cy="1645920"/>
          </a:xfrm>
          <a:prstGeom prst="rect">
            <a:avLst/>
          </a:prstGeom>
          <a:noFill/>
        </p:spPr>
        <p:txBody>
          <a:bodyPr wrap="none">
            <a:spAutoFit/>
          </a:bodyPr>
          <a:lstStyle/>
          <a:p>
            <a:pPr algn="l"/>
            <a:r>
              <a:rPr sz="5200" b="1">
                <a:solidFill>
                  <a:srgbClr val="F0F4FF"/>
                </a:solidFill>
                <a:latin typeface="Avenir Next"/>
              </a:rPr>
              <a:t>Memoization is not free.</a:t>
            </a:r>
          </a:p>
        </p:txBody>
      </p:sp>
      <p:sp>
        <p:nvSpPr>
          <p:cNvPr id="22" name="Rectangle 21"/>
          <p:cNvSpPr/>
          <p:nvPr/>
        </p:nvSpPr>
        <p:spPr>
          <a:xfrm>
            <a:off x="822960" y="2880360"/>
            <a:ext cx="5440680" cy="2514600"/>
          </a:xfrm>
          <a:prstGeom prst="rect">
            <a:avLst/>
          </a:prstGeom>
          <a:solidFill>
            <a:srgbClr val="361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97880" y="2880360"/>
            <a:ext cx="5440680" cy="2514600"/>
          </a:xfrm>
          <a:prstGeom prst="rect">
            <a:avLst/>
          </a:prstGeom>
          <a:solidFill>
            <a:srgbClr val="14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3154680"/>
            <a:ext cx="4754880" cy="1645920"/>
          </a:xfrm>
          <a:prstGeom prst="rect">
            <a:avLst/>
          </a:prstGeom>
          <a:noFill/>
        </p:spPr>
        <p:txBody>
          <a:bodyPr wrap="none">
            <a:spAutoFit/>
          </a:bodyPr>
          <a:lstStyle/>
          <a:p>
            <a:r>
              <a:rPr sz="1600" b="1">
                <a:solidFill>
                  <a:srgbClr val="FF5370"/>
                </a:solidFill>
                <a:latin typeface="Avenir Next"/>
              </a:rPr>
              <a:t>MYTH</a:t>
            </a:r>
          </a:p>
          <a:p>
            <a:r>
              <a:rPr sz="2400" b="1">
                <a:solidFill>
                  <a:srgbClr val="F0F4FF"/>
                </a:solidFill>
                <a:latin typeface="Avenir Next"/>
              </a:rPr>
              <a:t>Cache everything.</a:t>
            </a:r>
          </a:p>
        </p:txBody>
      </p:sp>
      <p:sp>
        <p:nvSpPr>
          <p:cNvPr id="25" name="TextBox 24"/>
          <p:cNvSpPr txBox="1"/>
          <p:nvPr/>
        </p:nvSpPr>
        <p:spPr>
          <a:xfrm>
            <a:off x="6172200" y="3154680"/>
            <a:ext cx="4754880" cy="1645920"/>
          </a:xfrm>
          <a:prstGeom prst="rect">
            <a:avLst/>
          </a:prstGeom>
          <a:noFill/>
        </p:spPr>
        <p:txBody>
          <a:bodyPr wrap="none">
            <a:spAutoFit/>
          </a:bodyPr>
          <a:lstStyle/>
          <a:p>
            <a:r>
              <a:rPr sz="1600" b="1">
                <a:solidFill>
                  <a:srgbClr val="00E2CC"/>
                </a:solidFill>
                <a:latin typeface="Avenir Next"/>
              </a:rPr>
              <a:t>REALITY</a:t>
            </a:r>
          </a:p>
          <a:p>
            <a:r>
              <a:rPr sz="2400" b="1">
                <a:solidFill>
                  <a:srgbClr val="F0F4FF"/>
                </a:solidFill>
                <a:latin typeface="Avenir Next"/>
              </a:rPr>
              <a:t>Cache only where compute beats cache overhead.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82880"/>
            <a:ext cx="11795760" cy="6492240"/>
          </a:xfrm>
          <a:prstGeom prst="roundRect">
            <a:avLst/>
          </a:prstGeom>
          <a:solidFill>
            <a:srgbClr val="0F1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163057"/>
            <a:ext cx="201168" cy="420623"/>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6126480"/>
            <a:ext cx="201168" cy="45720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0704" y="5687568"/>
            <a:ext cx="201168" cy="8961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16736" y="6117336"/>
            <a:ext cx="201168" cy="46634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72768" y="5303520"/>
            <a:ext cx="201168" cy="128016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870449"/>
            <a:ext cx="201168" cy="713231"/>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84832" y="6025896"/>
            <a:ext cx="201168" cy="55778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40864" y="4937760"/>
            <a:ext cx="201168" cy="164592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6896" y="5961888"/>
            <a:ext cx="201168" cy="62179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5340096"/>
            <a:ext cx="201168" cy="124358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6217920"/>
            <a:ext cx="201168" cy="36576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5641848"/>
            <a:ext cx="201168" cy="94183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21024" y="5980176"/>
            <a:ext cx="201168" cy="60350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77056" y="5212080"/>
            <a:ext cx="201168" cy="137160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33088" y="5916168"/>
            <a:ext cx="201168" cy="6675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5431536"/>
            <a:ext cx="201168" cy="115214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 y="182880"/>
            <a:ext cx="3383280" cy="502920"/>
          </a:xfrm>
          <a:prstGeom prst="roundRect">
            <a:avLst/>
          </a:prstGeom>
          <a:solidFill>
            <a:srgbClr val="1A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E2CC"/>
                </a:solidFill>
                <a:latin typeface="Avenir Next"/>
              </a:rPr>
              <a:t>PART 1 - Performance is Tricky</a:t>
            </a:r>
          </a:p>
        </p:txBody>
      </p:sp>
      <p:sp>
        <p:nvSpPr>
          <p:cNvPr id="21" name="TextBox 20"/>
          <p:cNvSpPr txBox="1"/>
          <p:nvPr/>
        </p:nvSpPr>
        <p:spPr>
          <a:xfrm>
            <a:off x="777240" y="914400"/>
            <a:ext cx="10789920" cy="1645920"/>
          </a:xfrm>
          <a:prstGeom prst="rect">
            <a:avLst/>
          </a:prstGeom>
          <a:noFill/>
        </p:spPr>
        <p:txBody>
          <a:bodyPr wrap="none">
            <a:spAutoFit/>
          </a:bodyPr>
          <a:lstStyle/>
          <a:p>
            <a:pPr algn="l"/>
            <a:r>
              <a:rPr sz="5200" b="1">
                <a:solidFill>
                  <a:srgbClr val="F0F4FF"/>
                </a:solidFill>
                <a:latin typeface="Avenir Next"/>
              </a:rPr>
              <a:t>Your runtime cost model is usually wrong.</a:t>
            </a:r>
          </a:p>
        </p:txBody>
      </p:sp>
      <p:sp>
        <p:nvSpPr>
          <p:cNvPr id="22" name="TextBox 21"/>
          <p:cNvSpPr txBox="1"/>
          <p:nvPr/>
        </p:nvSpPr>
        <p:spPr>
          <a:xfrm>
            <a:off x="822960" y="2194560"/>
            <a:ext cx="10515600" cy="2194560"/>
          </a:xfrm>
          <a:prstGeom prst="rect">
            <a:avLst/>
          </a:prstGeom>
          <a:noFill/>
        </p:spPr>
        <p:txBody>
          <a:bodyPr wrap="none">
            <a:spAutoFit/>
          </a:bodyPr>
          <a:lstStyle/>
          <a:p>
            <a:pPr algn="l"/>
            <a:r>
              <a:rPr sz="2800" b="1">
                <a:solidFill>
                  <a:srgbClr val="97A7C4"/>
                </a:solidFill>
                <a:latin typeface="Avenir Next"/>
              </a:rPr>
              <a:t>CPU, GC, layout, paint, network: different bottlenecks, different truths.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82880"/>
            <a:ext cx="11795760" cy="6492240"/>
          </a:xfrm>
          <a:prstGeom prst="roundRect">
            <a:avLst/>
          </a:prstGeom>
          <a:solidFill>
            <a:srgbClr val="0F1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309360"/>
            <a:ext cx="201168" cy="27432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6053328"/>
            <a:ext cx="201168" cy="53035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0704" y="5614416"/>
            <a:ext cx="201168" cy="9692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16736" y="6263640"/>
            <a:ext cx="201168" cy="32004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72768" y="5230368"/>
            <a:ext cx="201168" cy="13533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797296"/>
            <a:ext cx="201168" cy="78638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84832" y="6172200"/>
            <a:ext cx="201168" cy="41148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40864" y="4864608"/>
            <a:ext cx="201168" cy="171907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6896" y="5888736"/>
            <a:ext cx="201168" cy="69494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5486400"/>
            <a:ext cx="201168" cy="109728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6144768"/>
            <a:ext cx="201168" cy="4389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5568697"/>
            <a:ext cx="201168" cy="1014983"/>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21024" y="6126480"/>
            <a:ext cx="201168" cy="45720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77056" y="5138928"/>
            <a:ext cx="201168" cy="144475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33088" y="5843016"/>
            <a:ext cx="201168" cy="7406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5577840"/>
            <a:ext cx="201168" cy="100584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 y="182880"/>
            <a:ext cx="3383280" cy="502920"/>
          </a:xfrm>
          <a:prstGeom prst="roundRect">
            <a:avLst/>
          </a:prstGeom>
          <a:solidFill>
            <a:srgbClr val="1A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E2CC"/>
                </a:solidFill>
                <a:latin typeface="Avenir Next"/>
              </a:rPr>
              <a:t>PART 1 - Performance is Tricky</a:t>
            </a:r>
          </a:p>
        </p:txBody>
      </p:sp>
      <p:sp>
        <p:nvSpPr>
          <p:cNvPr id="21" name="TextBox 20"/>
          <p:cNvSpPr txBox="1"/>
          <p:nvPr/>
        </p:nvSpPr>
        <p:spPr>
          <a:xfrm>
            <a:off x="777240" y="914400"/>
            <a:ext cx="10789920" cy="1645920"/>
          </a:xfrm>
          <a:prstGeom prst="rect">
            <a:avLst/>
          </a:prstGeom>
          <a:noFill/>
        </p:spPr>
        <p:txBody>
          <a:bodyPr wrap="none">
            <a:spAutoFit/>
          </a:bodyPr>
          <a:lstStyle/>
          <a:p>
            <a:pPr algn="l"/>
            <a:r>
              <a:rPr sz="5200" b="1">
                <a:solidFill>
                  <a:srgbClr val="F0F4FF"/>
                </a:solidFill>
                <a:latin typeface="Avenir Next"/>
              </a:rPr>
              <a:t>Svelte says "fast". Where are the profiles?</a:t>
            </a:r>
          </a:p>
        </p:txBody>
      </p:sp>
      <p:sp>
        <p:nvSpPr>
          <p:cNvPr id="22" name="TextBox 21"/>
          <p:cNvSpPr txBox="1"/>
          <p:nvPr/>
        </p:nvSpPr>
        <p:spPr>
          <a:xfrm>
            <a:off x="822960" y="2240280"/>
            <a:ext cx="10515600" cy="2194560"/>
          </a:xfrm>
          <a:prstGeom prst="rect">
            <a:avLst/>
          </a:prstGeom>
          <a:noFill/>
        </p:spPr>
        <p:txBody>
          <a:bodyPr wrap="none">
            <a:spAutoFit/>
          </a:bodyPr>
          <a:lstStyle/>
          <a:p>
            <a:pPr algn="l"/>
            <a:r>
              <a:rPr sz="2800" b="1">
                <a:solidFill>
                  <a:srgbClr val="00E2CC"/>
                </a:solidFill>
                <a:latin typeface="Avenir Next"/>
              </a:rPr>
              <a:t>Marketing velocity without profiling evidence should trigger engineering skepticism.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82880"/>
            <a:ext cx="11795760" cy="6492240"/>
          </a:xfrm>
          <a:prstGeom prst="roundRect">
            <a:avLst/>
          </a:prstGeom>
          <a:solidFill>
            <a:srgbClr val="0F1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309360"/>
            <a:ext cx="201168" cy="27432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6053328"/>
            <a:ext cx="201168" cy="53035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0704" y="5614416"/>
            <a:ext cx="201168" cy="9692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16736" y="6263640"/>
            <a:ext cx="201168" cy="32004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72768" y="5230368"/>
            <a:ext cx="201168" cy="13533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797296"/>
            <a:ext cx="201168" cy="78638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84832" y="6172200"/>
            <a:ext cx="201168" cy="41148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40864" y="4864608"/>
            <a:ext cx="201168" cy="171907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6896" y="5888736"/>
            <a:ext cx="201168" cy="69494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5486400"/>
            <a:ext cx="201168" cy="109728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6144768"/>
            <a:ext cx="201168" cy="4389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5568697"/>
            <a:ext cx="201168" cy="1014983"/>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21024" y="6126480"/>
            <a:ext cx="201168" cy="45720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77056" y="5138928"/>
            <a:ext cx="201168" cy="144475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33088" y="5843016"/>
            <a:ext cx="201168" cy="7406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5577840"/>
            <a:ext cx="201168" cy="100584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 y="182880"/>
            <a:ext cx="3383280" cy="502920"/>
          </a:xfrm>
          <a:prstGeom prst="roundRect">
            <a:avLst/>
          </a:prstGeom>
          <a:solidFill>
            <a:srgbClr val="1A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E2CC"/>
                </a:solidFill>
                <a:latin typeface="Avenir Next"/>
              </a:rPr>
              <a:t>PART 1 - Performance is Tricky</a:t>
            </a:r>
          </a:p>
        </p:txBody>
      </p:sp>
      <p:sp>
        <p:nvSpPr>
          <p:cNvPr id="21" name="TextBox 20"/>
          <p:cNvSpPr txBox="1"/>
          <p:nvPr/>
        </p:nvSpPr>
        <p:spPr>
          <a:xfrm>
            <a:off x="777240" y="914400"/>
            <a:ext cx="10789920" cy="1645920"/>
          </a:xfrm>
          <a:prstGeom prst="rect">
            <a:avLst/>
          </a:prstGeom>
          <a:noFill/>
        </p:spPr>
        <p:txBody>
          <a:bodyPr wrap="none">
            <a:spAutoFit/>
          </a:bodyPr>
          <a:lstStyle/>
          <a:p>
            <a:pPr algn="l"/>
            <a:r>
              <a:rPr sz="5200" b="1">
                <a:solidFill>
                  <a:srgbClr val="F0F4FF"/>
                </a:solidFill>
                <a:latin typeface="Avenir Next"/>
              </a:rPr>
              <a:t>Baselines orient you. Baselines can also trap you.</a:t>
            </a:r>
          </a:p>
        </p:txBody>
      </p:sp>
      <p:sp>
        <p:nvSpPr>
          <p:cNvPr id="22" name="TextBox 21"/>
          <p:cNvSpPr txBox="1"/>
          <p:nvPr/>
        </p:nvSpPr>
        <p:spPr>
          <a:xfrm>
            <a:off x="822960" y="2331720"/>
            <a:ext cx="10515600" cy="2194560"/>
          </a:xfrm>
          <a:prstGeom prst="rect">
            <a:avLst/>
          </a:prstGeom>
          <a:noFill/>
        </p:spPr>
        <p:txBody>
          <a:bodyPr wrap="none">
            <a:spAutoFit/>
          </a:bodyPr>
          <a:lstStyle/>
          <a:p>
            <a:pPr algn="l"/>
            <a:r>
              <a:rPr sz="3400" b="1">
                <a:solidFill>
                  <a:srgbClr val="FF7D3D"/>
                </a:solidFill>
                <a:latin typeface="Avenir Next"/>
              </a:rPr>
              <a:t>Great compass. Bad autopilot.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82880"/>
            <a:ext cx="11795760" cy="6492240"/>
          </a:xfrm>
          <a:prstGeom prst="roundRect">
            <a:avLst/>
          </a:prstGeom>
          <a:solidFill>
            <a:srgbClr val="0F1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236208"/>
            <a:ext cx="201168" cy="34747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5980176"/>
            <a:ext cx="201168" cy="60350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0704" y="5760720"/>
            <a:ext cx="201168" cy="82296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16736" y="6190488"/>
            <a:ext cx="201168" cy="39319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72768" y="5157217"/>
            <a:ext cx="201168" cy="1426463"/>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943600"/>
            <a:ext cx="201168" cy="64008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84832" y="6099048"/>
            <a:ext cx="201168" cy="48463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40864" y="4791456"/>
            <a:ext cx="201168" cy="179222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6896" y="6035040"/>
            <a:ext cx="201168" cy="54864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5413248"/>
            <a:ext cx="201168" cy="117043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6071616"/>
            <a:ext cx="201168" cy="5120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5715000"/>
            <a:ext cx="201168" cy="86868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21024" y="6053328"/>
            <a:ext cx="201168" cy="53035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77056" y="5065776"/>
            <a:ext cx="201168" cy="151790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33088" y="5989320"/>
            <a:ext cx="201168" cy="59436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5504688"/>
            <a:ext cx="201168" cy="107899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 y="182880"/>
            <a:ext cx="3383280" cy="502920"/>
          </a:xfrm>
          <a:prstGeom prst="roundRect">
            <a:avLst/>
          </a:prstGeom>
          <a:solidFill>
            <a:srgbClr val="1A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E2CC"/>
                </a:solidFill>
                <a:latin typeface="Avenir Next"/>
              </a:rPr>
              <a:t>PART 2 - Getting Performance Right</a:t>
            </a:r>
          </a:p>
        </p:txBody>
      </p:sp>
      <p:sp>
        <p:nvSpPr>
          <p:cNvPr id="21" name="TextBox 20"/>
          <p:cNvSpPr txBox="1"/>
          <p:nvPr/>
        </p:nvSpPr>
        <p:spPr>
          <a:xfrm>
            <a:off x="777240" y="914400"/>
            <a:ext cx="10789920" cy="1645920"/>
          </a:xfrm>
          <a:prstGeom prst="rect">
            <a:avLst/>
          </a:prstGeom>
          <a:noFill/>
        </p:spPr>
        <p:txBody>
          <a:bodyPr wrap="none">
            <a:spAutoFit/>
          </a:bodyPr>
          <a:lstStyle/>
          <a:p>
            <a:pPr algn="l"/>
            <a:r>
              <a:rPr sz="5200" b="1">
                <a:solidFill>
                  <a:srgbClr val="F0F4FF"/>
                </a:solidFill>
                <a:latin typeface="Avenir Next"/>
              </a:rPr>
              <a:t>Principle 1: Model the true cost.</a:t>
            </a:r>
          </a:p>
        </p:txBody>
      </p:sp>
      <p:sp>
        <p:nvSpPr>
          <p:cNvPr id="22" name="TextBox 21"/>
          <p:cNvSpPr txBox="1"/>
          <p:nvPr/>
        </p:nvSpPr>
        <p:spPr>
          <a:xfrm>
            <a:off x="822960" y="2148840"/>
            <a:ext cx="10515600" cy="2194560"/>
          </a:xfrm>
          <a:prstGeom prst="rect">
            <a:avLst/>
          </a:prstGeom>
          <a:noFill/>
        </p:spPr>
        <p:txBody>
          <a:bodyPr wrap="none">
            <a:spAutoFit/>
          </a:bodyPr>
          <a:lstStyle/>
          <a:p>
            <a:pPr algn="l"/>
            <a:r>
              <a:rPr sz="2800" b="1">
                <a:solidFill>
                  <a:srgbClr val="97A7C4"/>
                </a:solidFill>
                <a:latin typeface="Avenir Next"/>
              </a:rPr>
              <a:t>Know what is expensive here, now, in this browser path.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82880"/>
            <a:ext cx="11795760" cy="6492240"/>
          </a:xfrm>
          <a:prstGeom prst="roundRect">
            <a:avLst/>
          </a:prstGeom>
          <a:solidFill>
            <a:srgbClr val="0F1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163057"/>
            <a:ext cx="201168" cy="420623"/>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6126480"/>
            <a:ext cx="201168" cy="45720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0704" y="5687568"/>
            <a:ext cx="201168" cy="8961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16736" y="6117336"/>
            <a:ext cx="201168" cy="46634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72768" y="5303520"/>
            <a:ext cx="201168" cy="128016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870449"/>
            <a:ext cx="201168" cy="713231"/>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84832" y="6025896"/>
            <a:ext cx="201168" cy="55778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40864" y="4937760"/>
            <a:ext cx="201168" cy="164592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6896" y="5961888"/>
            <a:ext cx="201168" cy="62179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5340096"/>
            <a:ext cx="201168" cy="124358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6217920"/>
            <a:ext cx="201168" cy="36576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5641848"/>
            <a:ext cx="201168" cy="94183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21024" y="5980176"/>
            <a:ext cx="201168" cy="60350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77056" y="5212080"/>
            <a:ext cx="201168" cy="137160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33088" y="5916168"/>
            <a:ext cx="201168" cy="6675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5431536"/>
            <a:ext cx="201168" cy="115214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 y="182880"/>
            <a:ext cx="3383280" cy="502920"/>
          </a:xfrm>
          <a:prstGeom prst="roundRect">
            <a:avLst/>
          </a:prstGeom>
          <a:solidFill>
            <a:srgbClr val="1A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E2CC"/>
                </a:solidFill>
                <a:latin typeface="Avenir Next"/>
              </a:rPr>
              <a:t>PART 2 - Getting Performance Right</a:t>
            </a:r>
          </a:p>
        </p:txBody>
      </p:sp>
      <p:sp>
        <p:nvSpPr>
          <p:cNvPr id="21" name="TextBox 20"/>
          <p:cNvSpPr txBox="1"/>
          <p:nvPr/>
        </p:nvSpPr>
        <p:spPr>
          <a:xfrm>
            <a:off x="777240" y="914400"/>
            <a:ext cx="10789920" cy="1645920"/>
          </a:xfrm>
          <a:prstGeom prst="rect">
            <a:avLst/>
          </a:prstGeom>
          <a:noFill/>
        </p:spPr>
        <p:txBody>
          <a:bodyPr wrap="none">
            <a:spAutoFit/>
          </a:bodyPr>
          <a:lstStyle/>
          <a:p>
            <a:pPr algn="l"/>
            <a:r>
              <a:rPr sz="5200" b="1">
                <a:solidFill>
                  <a:srgbClr val="F0F4FF"/>
                </a:solidFill>
                <a:latin typeface="Avenir Next"/>
              </a:rPr>
              <a:t>Principle 2: Profile before optimizing.</a:t>
            </a:r>
          </a:p>
        </p:txBody>
      </p:sp>
      <p:sp>
        <p:nvSpPr>
          <p:cNvPr id="22" name="TextBox 21"/>
          <p:cNvSpPr txBox="1"/>
          <p:nvPr/>
        </p:nvSpPr>
        <p:spPr>
          <a:xfrm>
            <a:off x="822960" y="2331720"/>
            <a:ext cx="10515600" cy="2194560"/>
          </a:xfrm>
          <a:prstGeom prst="rect">
            <a:avLst/>
          </a:prstGeom>
          <a:noFill/>
        </p:spPr>
        <p:txBody>
          <a:bodyPr wrap="none">
            <a:spAutoFit/>
          </a:bodyPr>
          <a:lstStyle/>
          <a:p>
            <a:pPr algn="l"/>
            <a:r>
              <a:rPr sz="3400" b="1">
                <a:solidFill>
                  <a:srgbClr val="00E2CC"/>
                </a:solidFill>
                <a:latin typeface="Avenir Next"/>
              </a:rPr>
              <a:t>No profile, no optimization. Only guesses.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82880"/>
            <a:ext cx="11795760" cy="6492240"/>
          </a:xfrm>
          <a:prstGeom prst="roundRect">
            <a:avLst/>
          </a:prstGeom>
          <a:solidFill>
            <a:srgbClr val="0F1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309360"/>
            <a:ext cx="201168" cy="27432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6053328"/>
            <a:ext cx="201168" cy="53035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0704" y="5614416"/>
            <a:ext cx="201168" cy="9692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16736" y="6263640"/>
            <a:ext cx="201168" cy="32004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72768" y="5230368"/>
            <a:ext cx="201168" cy="13533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797296"/>
            <a:ext cx="201168" cy="78638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84832" y="6172200"/>
            <a:ext cx="201168" cy="41148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40864" y="4864608"/>
            <a:ext cx="201168" cy="171907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6896" y="5888736"/>
            <a:ext cx="201168" cy="69494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5486400"/>
            <a:ext cx="201168" cy="109728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6144768"/>
            <a:ext cx="201168" cy="4389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5568697"/>
            <a:ext cx="201168" cy="1014983"/>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21024" y="6126480"/>
            <a:ext cx="201168" cy="45720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77056" y="5138928"/>
            <a:ext cx="201168" cy="144475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33088" y="5843016"/>
            <a:ext cx="201168" cy="7406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5577840"/>
            <a:ext cx="201168" cy="100584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 y="182880"/>
            <a:ext cx="3383280" cy="502920"/>
          </a:xfrm>
          <a:prstGeom prst="roundRect">
            <a:avLst/>
          </a:prstGeom>
          <a:solidFill>
            <a:srgbClr val="1A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E2CC"/>
                </a:solidFill>
                <a:latin typeface="Avenir Next"/>
              </a:rPr>
              <a:t>PART 2 - Getting Performance Right</a:t>
            </a:r>
          </a:p>
        </p:txBody>
      </p:sp>
      <p:sp>
        <p:nvSpPr>
          <p:cNvPr id="21" name="TextBox 20"/>
          <p:cNvSpPr txBox="1"/>
          <p:nvPr/>
        </p:nvSpPr>
        <p:spPr>
          <a:xfrm>
            <a:off x="777240" y="914400"/>
            <a:ext cx="10789920" cy="1645920"/>
          </a:xfrm>
          <a:prstGeom prst="rect">
            <a:avLst/>
          </a:prstGeom>
          <a:noFill/>
        </p:spPr>
        <p:txBody>
          <a:bodyPr wrap="none">
            <a:spAutoFit/>
          </a:bodyPr>
          <a:lstStyle/>
          <a:p>
            <a:pPr algn="l"/>
            <a:r>
              <a:rPr sz="5200" b="1">
                <a:solidFill>
                  <a:srgbClr val="F0F4FF"/>
                </a:solidFill>
                <a:latin typeface="Avenir Next"/>
              </a:rPr>
              <a:t>Principle 3: Users feel latency, not your benchmark score.</a:t>
            </a:r>
          </a:p>
        </p:txBody>
      </p:sp>
      <p:sp>
        <p:nvSpPr>
          <p:cNvPr id="22" name="TextBox 21"/>
          <p:cNvSpPr txBox="1"/>
          <p:nvPr/>
        </p:nvSpPr>
        <p:spPr>
          <a:xfrm>
            <a:off x="822960" y="2331720"/>
            <a:ext cx="10515600" cy="2194560"/>
          </a:xfrm>
          <a:prstGeom prst="rect">
            <a:avLst/>
          </a:prstGeom>
          <a:noFill/>
        </p:spPr>
        <p:txBody>
          <a:bodyPr wrap="none">
            <a:spAutoFit/>
          </a:bodyPr>
          <a:lstStyle/>
          <a:p>
            <a:pPr algn="l"/>
            <a:r>
              <a:rPr sz="3200" b="1">
                <a:solidFill>
                  <a:srgbClr val="FF7D3D"/>
                </a:solidFill>
                <a:latin typeface="Avenir Next"/>
              </a:rPr>
              <a:t>Perceived performance is product performance.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82880"/>
            <a:ext cx="11795760" cy="6492240"/>
          </a:xfrm>
          <a:prstGeom prst="roundRect">
            <a:avLst/>
          </a:prstGeom>
          <a:solidFill>
            <a:srgbClr val="0F1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309360"/>
            <a:ext cx="201168" cy="27432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6053328"/>
            <a:ext cx="201168" cy="53035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0704" y="5614416"/>
            <a:ext cx="201168" cy="9692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16736" y="6263640"/>
            <a:ext cx="201168" cy="32004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72768" y="5230368"/>
            <a:ext cx="201168" cy="13533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797296"/>
            <a:ext cx="201168" cy="78638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84832" y="6172200"/>
            <a:ext cx="201168" cy="41148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40864" y="4864608"/>
            <a:ext cx="201168" cy="171907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6896" y="5888736"/>
            <a:ext cx="201168" cy="69494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5486400"/>
            <a:ext cx="201168" cy="109728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6144768"/>
            <a:ext cx="201168" cy="4389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5568697"/>
            <a:ext cx="201168" cy="1014983"/>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21024" y="6126480"/>
            <a:ext cx="201168" cy="45720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77056" y="5138928"/>
            <a:ext cx="201168" cy="144475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33088" y="5843016"/>
            <a:ext cx="201168" cy="7406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5577840"/>
            <a:ext cx="201168" cy="100584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 y="182880"/>
            <a:ext cx="3383280" cy="502920"/>
          </a:xfrm>
          <a:prstGeom prst="roundRect">
            <a:avLst/>
          </a:prstGeom>
          <a:solidFill>
            <a:srgbClr val="1A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E2CC"/>
                </a:solidFill>
                <a:latin typeface="Avenir Next"/>
              </a:rPr>
              <a:t>PART 3 - Real Production Examples</a:t>
            </a:r>
          </a:p>
        </p:txBody>
      </p:sp>
      <p:sp>
        <p:nvSpPr>
          <p:cNvPr id="21" name="TextBox 20"/>
          <p:cNvSpPr txBox="1"/>
          <p:nvPr/>
        </p:nvSpPr>
        <p:spPr>
          <a:xfrm>
            <a:off x="777240" y="868680"/>
            <a:ext cx="10789920" cy="1645920"/>
          </a:xfrm>
          <a:prstGeom prst="rect">
            <a:avLst/>
          </a:prstGeom>
          <a:noFill/>
        </p:spPr>
        <p:txBody>
          <a:bodyPr wrap="none">
            <a:spAutoFit/>
          </a:bodyPr>
          <a:lstStyle/>
          <a:p>
            <a:pPr algn="l"/>
            <a:r>
              <a:rPr sz="4800" b="1">
                <a:solidFill>
                  <a:srgbClr val="F0F4FF"/>
                </a:solidFill>
                <a:latin typeface="Avenir Next"/>
              </a:rPr>
              <a:t>Case Study A</a:t>
            </a:r>
          </a:p>
        </p:txBody>
      </p:sp>
      <p:sp>
        <p:nvSpPr>
          <p:cNvPr id="22" name="Rectangle 21"/>
          <p:cNvSpPr/>
          <p:nvPr/>
        </p:nvSpPr>
        <p:spPr>
          <a:xfrm>
            <a:off x="822960" y="2880360"/>
            <a:ext cx="5440680" cy="2514600"/>
          </a:xfrm>
          <a:prstGeom prst="rect">
            <a:avLst/>
          </a:prstGeom>
          <a:solidFill>
            <a:srgbClr val="361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97880" y="2880360"/>
            <a:ext cx="5440680" cy="2514600"/>
          </a:xfrm>
          <a:prstGeom prst="rect">
            <a:avLst/>
          </a:prstGeom>
          <a:solidFill>
            <a:srgbClr val="14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3154680"/>
            <a:ext cx="4754880" cy="1645920"/>
          </a:xfrm>
          <a:prstGeom prst="rect">
            <a:avLst/>
          </a:prstGeom>
          <a:noFill/>
        </p:spPr>
        <p:txBody>
          <a:bodyPr wrap="none">
            <a:spAutoFit/>
          </a:bodyPr>
          <a:lstStyle/>
          <a:p>
            <a:r>
              <a:rPr sz="1600" b="1">
                <a:solidFill>
                  <a:srgbClr val="FF5370"/>
                </a:solidFill>
                <a:latin typeface="Avenir Next"/>
              </a:rPr>
              <a:t>MYTH</a:t>
            </a:r>
          </a:p>
          <a:p>
            <a:r>
              <a:rPr sz="2400" b="1">
                <a:solidFill>
                  <a:srgbClr val="F0F4FF"/>
                </a:solidFill>
                <a:latin typeface="Avenir Next"/>
              </a:rPr>
              <a:t>React diffing is too slow.</a:t>
            </a:r>
          </a:p>
        </p:txBody>
      </p:sp>
      <p:sp>
        <p:nvSpPr>
          <p:cNvPr id="25" name="TextBox 24"/>
          <p:cNvSpPr txBox="1"/>
          <p:nvPr/>
        </p:nvSpPr>
        <p:spPr>
          <a:xfrm>
            <a:off x="6172200" y="3154680"/>
            <a:ext cx="4754880" cy="1645920"/>
          </a:xfrm>
          <a:prstGeom prst="rect">
            <a:avLst/>
          </a:prstGeom>
          <a:noFill/>
        </p:spPr>
        <p:txBody>
          <a:bodyPr wrap="none">
            <a:spAutoFit/>
          </a:bodyPr>
          <a:lstStyle/>
          <a:p>
            <a:r>
              <a:rPr sz="1600" b="1">
                <a:solidFill>
                  <a:srgbClr val="00E2CC"/>
                </a:solidFill>
                <a:latin typeface="Avenir Next"/>
              </a:rPr>
              <a:t>REALITY</a:t>
            </a:r>
          </a:p>
          <a:p>
            <a:r>
              <a:rPr sz="2400" b="1">
                <a:solidFill>
                  <a:srgbClr val="F0F4FF"/>
                </a:solidFill>
                <a:latin typeface="Avenir Next"/>
              </a:rPr>
              <a:t>Forced reflow loop in a custom tooltip hook.</a:t>
            </a:r>
          </a:p>
        </p:txBody>
      </p:sp>
      <p:sp>
        <p:nvSpPr>
          <p:cNvPr id="26" name="TextBox 25"/>
          <p:cNvSpPr txBox="1"/>
          <p:nvPr/>
        </p:nvSpPr>
        <p:spPr>
          <a:xfrm>
            <a:off x="822960" y="2011680"/>
            <a:ext cx="10515600" cy="2194560"/>
          </a:xfrm>
          <a:prstGeom prst="rect">
            <a:avLst/>
          </a:prstGeom>
          <a:noFill/>
        </p:spPr>
        <p:txBody>
          <a:bodyPr wrap="none">
            <a:spAutoFit/>
          </a:bodyPr>
          <a:lstStyle/>
          <a:p>
            <a:pPr algn="l"/>
            <a:r>
              <a:rPr sz="2700" b="1">
                <a:solidFill>
                  <a:srgbClr val="97A7C4"/>
                </a:solidFill>
                <a:latin typeface="Avenir Next"/>
              </a:rPr>
              <a:t>Symptom: typing lag in dense tables.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82880"/>
            <a:ext cx="11795760" cy="6492240"/>
          </a:xfrm>
          <a:prstGeom prst="roundRect">
            <a:avLst/>
          </a:prstGeom>
          <a:solidFill>
            <a:srgbClr val="0F1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236208"/>
            <a:ext cx="201168" cy="34747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5980176"/>
            <a:ext cx="201168" cy="60350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0704" y="5760720"/>
            <a:ext cx="201168" cy="82296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16736" y="6190488"/>
            <a:ext cx="201168" cy="39319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72768" y="5157217"/>
            <a:ext cx="201168" cy="1426463"/>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943600"/>
            <a:ext cx="201168" cy="64008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84832" y="6099048"/>
            <a:ext cx="201168" cy="48463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40864" y="4791456"/>
            <a:ext cx="201168" cy="179222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6896" y="6035040"/>
            <a:ext cx="201168" cy="54864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5413248"/>
            <a:ext cx="201168" cy="117043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6071616"/>
            <a:ext cx="201168" cy="51206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5715000"/>
            <a:ext cx="201168" cy="86868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21024" y="6053328"/>
            <a:ext cx="201168" cy="53035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77056" y="5065776"/>
            <a:ext cx="201168" cy="151790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33088" y="5989320"/>
            <a:ext cx="201168" cy="59436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5504688"/>
            <a:ext cx="201168" cy="107899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 y="182880"/>
            <a:ext cx="3383280" cy="502920"/>
          </a:xfrm>
          <a:prstGeom prst="roundRect">
            <a:avLst/>
          </a:prstGeom>
          <a:solidFill>
            <a:srgbClr val="1A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E2CC"/>
                </a:solidFill>
                <a:latin typeface="Avenir Next"/>
              </a:rPr>
              <a:t>PART 3 - Real Production Examples</a:t>
            </a:r>
          </a:p>
        </p:txBody>
      </p:sp>
      <p:sp>
        <p:nvSpPr>
          <p:cNvPr id="21" name="TextBox 20"/>
          <p:cNvSpPr txBox="1"/>
          <p:nvPr/>
        </p:nvSpPr>
        <p:spPr>
          <a:xfrm>
            <a:off x="777240" y="868680"/>
            <a:ext cx="10789920" cy="1645920"/>
          </a:xfrm>
          <a:prstGeom prst="rect">
            <a:avLst/>
          </a:prstGeom>
          <a:noFill/>
        </p:spPr>
        <p:txBody>
          <a:bodyPr wrap="none">
            <a:spAutoFit/>
          </a:bodyPr>
          <a:lstStyle/>
          <a:p>
            <a:pPr algn="l"/>
            <a:r>
              <a:rPr sz="4800" b="1">
                <a:solidFill>
                  <a:srgbClr val="F0F4FF"/>
                </a:solidFill>
                <a:latin typeface="Avenir Next"/>
              </a:rPr>
              <a:t>Case Study B</a:t>
            </a:r>
          </a:p>
        </p:txBody>
      </p:sp>
      <p:sp>
        <p:nvSpPr>
          <p:cNvPr id="22" name="Rectangle 21"/>
          <p:cNvSpPr/>
          <p:nvPr/>
        </p:nvSpPr>
        <p:spPr>
          <a:xfrm>
            <a:off x="822960" y="2880360"/>
            <a:ext cx="5440680" cy="2514600"/>
          </a:xfrm>
          <a:prstGeom prst="rect">
            <a:avLst/>
          </a:prstGeom>
          <a:solidFill>
            <a:srgbClr val="361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97880" y="2880360"/>
            <a:ext cx="5440680" cy="2514600"/>
          </a:xfrm>
          <a:prstGeom prst="rect">
            <a:avLst/>
          </a:prstGeom>
          <a:solidFill>
            <a:srgbClr val="14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3154680"/>
            <a:ext cx="4754880" cy="1645920"/>
          </a:xfrm>
          <a:prstGeom prst="rect">
            <a:avLst/>
          </a:prstGeom>
          <a:noFill/>
        </p:spPr>
        <p:txBody>
          <a:bodyPr wrap="none">
            <a:spAutoFit/>
          </a:bodyPr>
          <a:lstStyle/>
          <a:p>
            <a:r>
              <a:rPr sz="1600" b="1">
                <a:solidFill>
                  <a:srgbClr val="FF5370"/>
                </a:solidFill>
                <a:latin typeface="Avenir Next"/>
              </a:rPr>
              <a:t>MYTH</a:t>
            </a:r>
          </a:p>
          <a:p>
            <a:r>
              <a:rPr sz="2400" b="1">
                <a:solidFill>
                  <a:srgbClr val="F0F4FF"/>
                </a:solidFill>
                <a:latin typeface="Avenir Next"/>
              </a:rPr>
              <a:t>Virtualization library bug.</a:t>
            </a:r>
          </a:p>
        </p:txBody>
      </p:sp>
      <p:sp>
        <p:nvSpPr>
          <p:cNvPr id="25" name="TextBox 24"/>
          <p:cNvSpPr txBox="1"/>
          <p:nvPr/>
        </p:nvSpPr>
        <p:spPr>
          <a:xfrm>
            <a:off x="6172200" y="3154680"/>
            <a:ext cx="4754880" cy="1645920"/>
          </a:xfrm>
          <a:prstGeom prst="rect">
            <a:avLst/>
          </a:prstGeom>
          <a:noFill/>
        </p:spPr>
        <p:txBody>
          <a:bodyPr wrap="none">
            <a:spAutoFit/>
          </a:bodyPr>
          <a:lstStyle/>
          <a:p>
            <a:r>
              <a:rPr sz="1600" b="1">
                <a:solidFill>
                  <a:srgbClr val="00E2CC"/>
                </a:solidFill>
                <a:latin typeface="Avenir Next"/>
              </a:rPr>
              <a:t>REALITY</a:t>
            </a:r>
          </a:p>
          <a:p>
            <a:r>
              <a:rPr sz="2400" b="1">
                <a:solidFill>
                  <a:srgbClr val="F0F4FF"/>
                </a:solidFill>
                <a:latin typeface="Avenir Next"/>
              </a:rPr>
              <a:t>Unstable keys remounted rows, nuking memoization.</a:t>
            </a:r>
          </a:p>
        </p:txBody>
      </p:sp>
      <p:sp>
        <p:nvSpPr>
          <p:cNvPr id="26" name="TextBox 25"/>
          <p:cNvSpPr txBox="1"/>
          <p:nvPr/>
        </p:nvSpPr>
        <p:spPr>
          <a:xfrm>
            <a:off x="822960" y="2011680"/>
            <a:ext cx="10515600" cy="2194560"/>
          </a:xfrm>
          <a:prstGeom prst="rect">
            <a:avLst/>
          </a:prstGeom>
          <a:noFill/>
        </p:spPr>
        <p:txBody>
          <a:bodyPr wrap="none">
            <a:spAutoFit/>
          </a:bodyPr>
          <a:lstStyle/>
          <a:p>
            <a:pPr algn="l"/>
            <a:r>
              <a:rPr sz="2700" b="1">
                <a:solidFill>
                  <a:srgbClr val="97A7C4"/>
                </a:solidFill>
                <a:latin typeface="Avenir Next"/>
              </a:rPr>
              <a:t>Symptom: scroll jank after filter changes.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82880"/>
            <a:ext cx="11795760" cy="6492240"/>
          </a:xfrm>
          <a:prstGeom prst="roundRect">
            <a:avLst/>
          </a:prstGeom>
          <a:solidFill>
            <a:srgbClr val="0F1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163057"/>
            <a:ext cx="201168" cy="420623"/>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6126480"/>
            <a:ext cx="201168" cy="45720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0704" y="5687568"/>
            <a:ext cx="201168" cy="8961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16736" y="6117336"/>
            <a:ext cx="201168" cy="46634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72768" y="5303520"/>
            <a:ext cx="201168" cy="128016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870449"/>
            <a:ext cx="201168" cy="713231"/>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84832" y="6025896"/>
            <a:ext cx="201168" cy="55778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40864" y="4937760"/>
            <a:ext cx="201168" cy="164592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6896" y="5961888"/>
            <a:ext cx="201168" cy="62179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5340096"/>
            <a:ext cx="201168" cy="124358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6217920"/>
            <a:ext cx="201168" cy="365760"/>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5641848"/>
            <a:ext cx="201168" cy="941832"/>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21024" y="5980176"/>
            <a:ext cx="201168" cy="603504"/>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77056" y="5212080"/>
            <a:ext cx="201168" cy="1371600"/>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33088" y="5916168"/>
            <a:ext cx="201168" cy="667512"/>
          </a:xfrm>
          <a:prstGeom prst="rect">
            <a:avLst/>
          </a:prstGeom>
          <a:solidFill>
            <a:srgbClr val="00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5431536"/>
            <a:ext cx="201168" cy="1152144"/>
          </a:xfrm>
          <a:prstGeom prst="rect">
            <a:avLst/>
          </a:prstGeom>
          <a:solidFill>
            <a:srgbClr val="FF7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 y="182880"/>
            <a:ext cx="3383280" cy="502920"/>
          </a:xfrm>
          <a:prstGeom prst="roundRect">
            <a:avLst/>
          </a:prstGeom>
          <a:solidFill>
            <a:srgbClr val="1A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E2CC"/>
                </a:solidFill>
                <a:latin typeface="Avenir Next"/>
              </a:rPr>
              <a:t>PART 4 - Recap</a:t>
            </a:r>
          </a:p>
        </p:txBody>
      </p:sp>
      <p:sp>
        <p:nvSpPr>
          <p:cNvPr id="21" name="TextBox 20"/>
          <p:cNvSpPr txBox="1"/>
          <p:nvPr/>
        </p:nvSpPr>
        <p:spPr>
          <a:xfrm>
            <a:off x="777240" y="868680"/>
            <a:ext cx="10789920" cy="1645920"/>
          </a:xfrm>
          <a:prstGeom prst="rect">
            <a:avLst/>
          </a:prstGeom>
          <a:noFill/>
        </p:spPr>
        <p:txBody>
          <a:bodyPr wrap="none">
            <a:spAutoFit/>
          </a:bodyPr>
          <a:lstStyle/>
          <a:p>
            <a:pPr algn="l"/>
            <a:r>
              <a:rPr sz="4600" b="1">
                <a:solidFill>
                  <a:srgbClr val="F0F4FF"/>
                </a:solidFill>
                <a:latin typeface="Avenir Next"/>
              </a:rPr>
              <a:t>Carry these into your next perf incident:</a:t>
            </a:r>
          </a:p>
        </p:txBody>
      </p:sp>
      <p:sp>
        <p:nvSpPr>
          <p:cNvPr id="22" name="TextBox 21"/>
          <p:cNvSpPr txBox="1"/>
          <p:nvPr/>
        </p:nvSpPr>
        <p:spPr>
          <a:xfrm>
            <a:off x="822960" y="2240280"/>
            <a:ext cx="10515600" cy="2194560"/>
          </a:xfrm>
          <a:prstGeom prst="rect">
            <a:avLst/>
          </a:prstGeom>
          <a:noFill/>
        </p:spPr>
        <p:txBody>
          <a:bodyPr wrap="none">
            <a:spAutoFit/>
          </a:bodyPr>
          <a:lstStyle/>
          <a:p>
            <a:pPr algn="l"/>
            <a:r>
              <a:rPr sz="3400" b="1">
                <a:solidFill>
                  <a:srgbClr val="00E2CC"/>
                </a:solidFill>
                <a:latin typeface="Avenir Next"/>
              </a:rPr>
              <a:t>Model reality. Profile first. Optimize for felt speed.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